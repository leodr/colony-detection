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3" r:id="rId37"/>
    <p:sldId id="259" r:id="rId38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715"/>
  </p:normalViewPr>
  <p:slideViewPr>
    <p:cSldViewPr snapToGrid="0">
      <p:cViewPr varScale="1">
        <p:scale>
          <a:sx n="118" d="100"/>
          <a:sy n="118" d="100"/>
        </p:scale>
        <p:origin x="9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FDC28-02C9-284E-9031-BBE97F7CE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lnSpc>
                <a:spcPct val="90000"/>
              </a:lnSpc>
              <a:defRPr sz="6000" b="1" i="0" spc="-300">
                <a:latin typeface="Inter Display ExtraBold"/>
                <a:ea typeface="Inter Display ExtraBold"/>
                <a:cs typeface="Inter Display ExtraBold"/>
              </a:defRPr>
            </a:lvl1pPr>
          </a:lstStyle>
          <a:p>
            <a:r>
              <a:rPr lang="en-US" dirty="0"/>
              <a:t>Click to edit Master title style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0E7DF4-A9BB-4424-1710-9773B9B7CA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 spc="-80" baseline="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C11E6-A3B1-D855-7668-96A49C82E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C703-F677-EB4F-B1E5-BA46F16DFCDC}" type="datetimeFigureOut">
              <a:rPr lang="en-DE" smtClean="0"/>
              <a:t>10/15/26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13631-74DF-6CA9-36C8-975CED889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F82E8-9445-097F-5909-604B1D26E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4D686-9F13-954A-A049-F27D003F35F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3303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8A7BA-EE76-C55E-5B95-F3C5C41F2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spc="-150">
                <a:latin typeface="Inter Display"/>
                <a:ea typeface="Inter Display"/>
                <a:cs typeface="Inter Display"/>
              </a:defRPr>
            </a:lvl1pPr>
          </a:lstStyle>
          <a:p>
            <a:r>
              <a:rPr lang="en-US" dirty="0"/>
              <a:t>Click to edit Master title style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8DC55-74FA-FDDA-C70D-6ED34DBC0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lnSpc>
                <a:spcPct val="100000"/>
              </a:lnSpc>
              <a:buSzPct val="100000"/>
              <a:buFont typeface="Inter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  <a:ea typeface="Inter"/>
                <a:cs typeface="Inter"/>
              </a:defRPr>
            </a:lvl1pPr>
            <a:lvl2pPr marL="685800" indent="-228600">
              <a:lnSpc>
                <a:spcPct val="100000"/>
              </a:lnSpc>
              <a:buSzPct val="100000"/>
              <a:buFont typeface="Inter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  <a:ea typeface="Inter"/>
                <a:cs typeface="Inter"/>
              </a:defRPr>
            </a:lvl2pPr>
            <a:lvl3pPr marL="1143000" indent="-228600">
              <a:lnSpc>
                <a:spcPct val="100000"/>
              </a:lnSpc>
              <a:buSzPct val="100000"/>
              <a:buFont typeface="Inter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  <a:ea typeface="Inter"/>
                <a:cs typeface="Inter"/>
              </a:defRPr>
            </a:lvl3pPr>
            <a:lvl4pPr marL="1600200" indent="-228600">
              <a:lnSpc>
                <a:spcPct val="100000"/>
              </a:lnSpc>
              <a:buSzPct val="100000"/>
              <a:buFont typeface="Inter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  <a:ea typeface="Inter"/>
                <a:cs typeface="Inter"/>
              </a:defRPr>
            </a:lvl4pPr>
            <a:lvl5pPr marL="2057400" indent="-228600">
              <a:lnSpc>
                <a:spcPct val="100000"/>
              </a:lnSpc>
              <a:buSzPct val="100000"/>
              <a:buFont typeface="Inter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  <a:ea typeface="Inter"/>
                <a:cs typeface="Inter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18456-3201-FA8A-6890-24BB9D46D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C703-F677-EB4F-B1E5-BA46F16DFCDC}" type="datetimeFigureOut">
              <a:rPr lang="en-DE" smtClean="0"/>
              <a:t>10/15/26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A4695-350D-0D75-11B4-DC8F6CD28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8AF10-E32A-5EF9-A357-3A17E6D9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4D686-9F13-954A-A049-F27D003F35F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59476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1AB38-F3E7-5AF7-59B0-F506C0FE2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spc="-300">
                <a:latin typeface="Inter Display"/>
                <a:ea typeface="Inter Display"/>
                <a:cs typeface="Inter Display"/>
              </a:defRPr>
            </a:lvl1pPr>
          </a:lstStyle>
          <a:p>
            <a:r>
              <a:rPr lang="en-US" dirty="0"/>
              <a:t>Click to edit Master title style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A92D6-D825-7938-CFD5-8861E5881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9DBEF-6814-A7F0-67D7-2631E2B7F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C703-F677-EB4F-B1E5-BA46F16DFCDC}" type="datetimeFigureOut">
              <a:rPr lang="en-DE" smtClean="0"/>
              <a:t>10/15/26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18738-E450-C987-5888-F12A3D53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095A5-81CF-51FC-0655-EE4C761D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4D686-9F13-954A-A049-F27D003F35F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01110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1DCA3-8E04-1B6C-4CB9-6EFBC4FD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8358A-D4EC-CC69-FE68-6F0ADEC3E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9FB2C-AC51-16DE-12A1-532737546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0EB74-DDAD-EBEB-0BB1-ABAD50410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C703-F677-EB4F-B1E5-BA46F16DFCDC}" type="datetimeFigureOut">
              <a:rPr lang="en-DE" smtClean="0"/>
              <a:t>10/15/26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534C9-25B7-46E0-95AC-FE03D193E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01FD8-868E-C20B-B40C-8480EFFC4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4D686-9F13-954A-A049-F27D003F35F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76446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DEEA1-07D7-347D-983D-E6D3626F6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968C2-2699-6855-FD29-27010CD21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5D963-212B-9F65-3EBA-BE4466CB2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3CD0AF-B9CF-0D5C-669B-7C9061D2DC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E1BA0E-4CB6-5AA6-FAE6-323D31BFC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B49ED7-B344-A104-52B4-EDD923155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C703-F677-EB4F-B1E5-BA46F16DFCDC}" type="datetimeFigureOut">
              <a:rPr lang="en-DE" smtClean="0"/>
              <a:t>10/15/26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0108CD-5C28-FC88-47FB-05417AE02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540BE2-A29F-6D88-DF2A-7F85878CA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4D686-9F13-954A-A049-F27D003F35F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56030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4D35E-AB02-2FF1-223E-564048642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4150C4-AAA3-92A4-D762-25AC2B0F9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C703-F677-EB4F-B1E5-BA46F16DFCDC}" type="datetimeFigureOut">
              <a:rPr lang="en-DE" smtClean="0"/>
              <a:t>10/15/26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7A3228-6C3C-F30B-921A-E1CA0DFD4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FFCE1-4930-FFA4-8C85-3F9E7A8A9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4D686-9F13-954A-A049-F27D003F35F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64171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5300AC-939F-2A96-CE6B-5E8A89E2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C703-F677-EB4F-B1E5-BA46F16DFCDC}" type="datetimeFigureOut">
              <a:rPr lang="en-DE" smtClean="0"/>
              <a:t>10/15/26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A40F0F-F19A-6D34-C51D-4F836A58B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9EB76-18F8-AE52-ABB0-2757B8C1C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4D686-9F13-954A-A049-F27D003F35F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7097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A03B-8559-C44D-5F2A-40F9DEB2A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48941-3DAD-7927-93E8-B65F30D41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Inter Display"/>
                <a:ea typeface="Inter Display"/>
                <a:cs typeface="Inter Display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99187-BD17-DFF8-8AAD-036736CE5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D94AD-3E6C-6F16-8F16-650A7246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C703-F677-EB4F-B1E5-BA46F16DFCDC}" type="datetimeFigureOut">
              <a:rPr lang="en-DE" smtClean="0"/>
              <a:t>10/15/26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DA8E3-C90F-7D8D-F3F6-94F57E7DF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39E87-D938-64DE-F4CA-5D4E700F2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4D686-9F13-954A-A049-F27D003F35F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70160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B278-549C-A62A-1E28-98639F90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6A80AB-580A-4BD7-A999-C5E858E4E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Inter Display"/>
                <a:ea typeface="Inter Display"/>
                <a:cs typeface="Inter Display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9C617-D760-8EFF-30CE-D2ED4CCF9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7BF1A-36D4-2958-0A97-0FC45B32E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C703-F677-EB4F-B1E5-BA46F16DFCDC}" type="datetimeFigureOut">
              <a:rPr lang="en-DE" smtClean="0"/>
              <a:t>10/15/26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0B203-C16F-2EC6-53A4-F6B9F5C10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E2C91-1372-55FF-AAC7-E1DF0E47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4D686-9F13-954A-A049-F27D003F35F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9310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FA3F6-8FC4-1A85-419E-DEA66E58C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6D573C-A0BA-3EDA-9147-D5A2CE40A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4D593-E974-D81B-4739-EEE271AD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C703-F677-EB4F-B1E5-BA46F16DFCDC}" type="datetimeFigureOut">
              <a:rPr lang="en-DE" smtClean="0"/>
              <a:t>10/15/26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1045C-A94C-742B-9B0F-4E31423B7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D0BE6-6E90-F689-51A5-3F11477DC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4D686-9F13-954A-A049-F27D003F35F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35739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B439CA-5C35-74A5-6796-488AEB4B98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31FA9D-3A50-D3F5-12A5-51AE64EC6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46510-779E-849C-48EA-06F08A132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C703-F677-EB4F-B1E5-BA46F16DFCDC}" type="datetimeFigureOut">
              <a:rPr lang="en-DE" smtClean="0"/>
              <a:t>10/15/26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E6CDB-C742-72FC-30A5-BFC61065E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C52F8-1235-8898-0044-CF2808085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4D686-9F13-954A-A049-F27D003F35F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6280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0152A5-B951-745A-1AC0-8F6F55580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1729A-B9B8-5FAE-DB0E-73367A6D5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CEF75-D771-C5C6-2162-B167E6B2AC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Inter"/>
              </a:defRPr>
            </a:lvl1pPr>
          </a:lstStyle>
          <a:p>
            <a:fld id="{AA60C703-F677-EB4F-B1E5-BA46F16DFCDC}" type="datetimeFigureOut">
              <a:rPr lang="en-DE" smtClean="0"/>
              <a:pPr/>
              <a:t>10/15/26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159C1-6076-296B-96EA-6FFD93038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Inter"/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1D6DF-3A88-7645-2448-41D3A1FB11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Inter"/>
              </a:defRPr>
            </a:lvl1pPr>
          </a:lstStyle>
          <a:p>
            <a:fld id="{7184D686-9F13-954A-A049-F27D003F35FA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70116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-150">
          <a:solidFill>
            <a:schemeClr val="tx1"/>
          </a:solidFill>
          <a:latin typeface="Inter Display"/>
          <a:ea typeface="Inter Display"/>
          <a:cs typeface="Inter Display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1">
            <a:lumMod val="75000"/>
          </a:schemeClr>
        </a:buClr>
        <a:buSzPct val="110000"/>
        <a:buFont typeface="Inter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Inter"/>
          <a:ea typeface="Inter"/>
          <a:cs typeface="Inter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1">
            <a:lumMod val="75000"/>
          </a:schemeClr>
        </a:buClr>
        <a:buSzPct val="110000"/>
        <a:buFont typeface="Inter"/>
        <a:buChar char="–"/>
        <a:defRPr sz="2400" kern="1200">
          <a:solidFill>
            <a:schemeClr val="tx1">
              <a:lumMod val="65000"/>
              <a:lumOff val="35000"/>
            </a:schemeClr>
          </a:solidFill>
          <a:latin typeface="Inter"/>
          <a:ea typeface="Inter"/>
          <a:cs typeface="Inter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1">
            <a:lumMod val="75000"/>
          </a:schemeClr>
        </a:buClr>
        <a:buSzPct val="110000"/>
        <a:buFont typeface="Inter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Inter"/>
          <a:ea typeface="Inter"/>
          <a:cs typeface="Inter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1">
            <a:lumMod val="75000"/>
          </a:schemeClr>
        </a:buClr>
        <a:buSzPct val="110000"/>
        <a:buFont typeface="Inter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Inter"/>
          <a:ea typeface="Inter"/>
          <a:cs typeface="Inter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1">
            <a:lumMod val="75000"/>
          </a:schemeClr>
        </a:buClr>
        <a:buSzPct val="110000"/>
        <a:buFont typeface="Inter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Inter"/>
          <a:ea typeface="Inter"/>
          <a:cs typeface="Inter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Inter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Inter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Inter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Inter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isker-biotech.com/product/0D-15-03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C17F6-8680-CC0B-C94A-5820261A2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0329"/>
            <a:ext cx="9144000" cy="2585323"/>
          </a:xfrm>
        </p:spPr>
        <p:txBody>
          <a:bodyPr>
            <a:spAutoFit/>
          </a:bodyPr>
          <a:lstStyle/>
          <a:p>
            <a:r>
              <a:rPr lang="en-DE" dirty="0">
                <a:latin typeface="Inter Display" panose="02000503000000020004" pitchFamily="2" charset="0"/>
                <a:ea typeface="Inter Display" panose="02000503000000020004" pitchFamily="2" charset="0"/>
                <a:cs typeface="Inter Display" panose="02000503000000020004" pitchFamily="2" charset="0"/>
              </a:rPr>
              <a:t>Automating Bacterial Colony Segmentation with 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F64ECF-158E-CE31-2F3B-357CD7782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1622"/>
            <a:ext cx="9144000" cy="830997"/>
          </a:xfrm>
        </p:spPr>
        <p:txBody>
          <a:bodyPr>
            <a:spAutoFit/>
          </a:bodyPr>
          <a:lstStyle/>
          <a:p>
            <a:r>
              <a:rPr lang="en-DE"/>
              <a:t>Bachelor’s </a:t>
            </a:r>
            <a:r>
              <a:rPr lang="en-DE" dirty="0"/>
              <a:t>Thesis by Leonhard Driesch,</a:t>
            </a:r>
            <a:br>
              <a:rPr lang="en-DE" dirty="0"/>
            </a:br>
            <a:r>
              <a:rPr lang="en-DE" dirty="0"/>
              <a:t>University of Münster – Computer Science Department</a:t>
            </a:r>
          </a:p>
        </p:txBody>
      </p:sp>
    </p:spTree>
    <p:extLst>
      <p:ext uri="{BB962C8B-B14F-4D97-AF65-F5344CB8AC3E}">
        <p14:creationId xmlns:p14="http://schemas.microsoft.com/office/powerpoint/2010/main" val="2557924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F6D04-AA8B-2588-6F57-664BA8E5C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DE" sz="4000"/>
              <a:t>Kontext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B5AC7-CF27-2832-E050-186AD49B2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DE" sz="2000" dirty="0"/>
              <a:t>Petri-Schalen werden verwendet, um Vorkommnisse von Mikroorganismen festzustellen</a:t>
            </a:r>
          </a:p>
          <a:p>
            <a:r>
              <a:rPr lang="en-DE" sz="2000" dirty="0"/>
              <a:t>Prozess: Probe auf Petri-Schale mit nährreichem Boden auftragen, einige Tage warten, Kolonien zählen</a:t>
            </a:r>
          </a:p>
          <a:p>
            <a:r>
              <a:rPr lang="en-DE" sz="2000" dirty="0"/>
              <a:t>Gezählte Kolonien lassen auf Vorkommnisse in der Probe zurückschließen</a:t>
            </a:r>
          </a:p>
          <a:p>
            <a:endParaRPr lang="en-DE" sz="2000" dirty="0"/>
          </a:p>
        </p:txBody>
      </p:sp>
      <p:pic>
        <p:nvPicPr>
          <p:cNvPr id="6" name="Picture 5" descr="A petri dish with white dots&#10;&#10;Description automatically generated">
            <a:extLst>
              <a:ext uri="{FF2B5EF4-FFF2-40B4-BE49-F238E27FC236}">
                <a16:creationId xmlns:a16="http://schemas.microsoft.com/office/drawing/2014/main" id="{0BE79571-4165-A29A-019F-9A6B3F5514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4951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7175A-7257-0093-F882-4AE3654C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Problem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0D8BC-3922-E0E9-5B16-ED217B4DB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38993" cy="4351338"/>
          </a:xfrm>
        </p:spPr>
        <p:txBody>
          <a:bodyPr/>
          <a:lstStyle/>
          <a:p>
            <a:r>
              <a:rPr lang="en-DE" dirty="0"/>
              <a:t>Manuelles Zählen der Kolonien dauert lange</a:t>
            </a:r>
          </a:p>
          <a:p>
            <a:r>
              <a:rPr lang="en-DE" dirty="0"/>
              <a:t>Bis zu 3000 Kolonien</a:t>
            </a:r>
          </a:p>
          <a:p>
            <a:endParaRPr lang="en-D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B5FBF5D-DF82-6587-B07D-ED30538FF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77193" y="1788727"/>
            <a:ext cx="5076825" cy="489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578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E0642-40C4-93C8-9569-5E3FDCD8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Ziel der Bachelorarbeit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F006-A03D-7C06-8DD7-0D4F03E27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51740" cy="4351338"/>
          </a:xfrm>
        </p:spPr>
        <p:txBody>
          <a:bodyPr/>
          <a:lstStyle/>
          <a:p>
            <a:r>
              <a:rPr lang="en-DE" dirty="0"/>
              <a:t>Automatisierung / Unterstützung des Zählprozesses durch Computer Vision</a:t>
            </a:r>
          </a:p>
          <a:p>
            <a:r>
              <a:rPr lang="en-DE" dirty="0"/>
              <a:t>Kolonien lokalisieren + Zählen</a:t>
            </a:r>
          </a:p>
        </p:txBody>
      </p:sp>
    </p:spTree>
    <p:extLst>
      <p:ext uri="{BB962C8B-B14F-4D97-AF65-F5344CB8AC3E}">
        <p14:creationId xmlns:p14="http://schemas.microsoft.com/office/powerpoint/2010/main" val="3556810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027D1-19B7-A42D-4B7B-1CC820BE6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11D92-E7F3-991F-DCA9-3FEB7F4D0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93089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8B19-E73C-7673-0F84-923A7350B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Photos sammeln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B0C6F-7E10-2D72-FCD3-5B29CD198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47503" cy="4351338"/>
          </a:xfrm>
        </p:spPr>
        <p:txBody>
          <a:bodyPr/>
          <a:lstStyle/>
          <a:p>
            <a:r>
              <a:rPr lang="en-DE" dirty="0"/>
              <a:t>Photobox der Bachelorarbeit von Emile</a:t>
            </a:r>
          </a:p>
          <a:p>
            <a:r>
              <a:rPr lang="en-DE" dirty="0"/>
              <a:t>Bildauflösung 3040x3040px</a:t>
            </a:r>
          </a:p>
          <a:p>
            <a:r>
              <a:rPr lang="en-DE" dirty="0"/>
              <a:t>Konstante Schärfe- &amp; Lichtverhältnisse</a:t>
            </a:r>
          </a:p>
          <a:p>
            <a:endParaRPr lang="en-DE" dirty="0"/>
          </a:p>
          <a:p>
            <a:pPr marL="0" indent="0">
              <a:buNone/>
            </a:pPr>
            <a:r>
              <a:rPr lang="en-DE" dirty="0">
                <a:solidFill>
                  <a:schemeClr val="bg1">
                    <a:lumMod val="75000"/>
                  </a:schemeClr>
                </a:solidFill>
              </a:rPr>
              <a:t>-&gt;</a:t>
            </a:r>
            <a:r>
              <a:rPr lang="en-DE" dirty="0"/>
              <a:t> 529 Fotos</a:t>
            </a:r>
          </a:p>
        </p:txBody>
      </p:sp>
      <p:pic>
        <p:nvPicPr>
          <p:cNvPr id="5" name="Picture 4" descr="A computer on a desk&#10;&#10;Description automatically generated">
            <a:extLst>
              <a:ext uri="{FF2B5EF4-FFF2-40B4-BE49-F238E27FC236}">
                <a16:creationId xmlns:a16="http://schemas.microsoft.com/office/drawing/2014/main" id="{D20B5A2D-E024-C6D0-608B-6D7763D1B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71" y="365125"/>
            <a:ext cx="4371788" cy="327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643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fferent types of petri dishes&#10;&#10;Description automatically generated">
            <a:extLst>
              <a:ext uri="{FF2B5EF4-FFF2-40B4-BE49-F238E27FC236}">
                <a16:creationId xmlns:a16="http://schemas.microsoft.com/office/drawing/2014/main" id="{28241AED-0CBE-BD2B-38D6-C26EF63B4B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4931" y="418630"/>
            <a:ext cx="8362139" cy="602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63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7AFD1-C48C-014C-BFBD-CDFA98BF8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Labeling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884BD-B02F-14BE-8476-5E93E0CE6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04984" cy="4351338"/>
          </a:xfrm>
        </p:spPr>
        <p:txBody>
          <a:bodyPr/>
          <a:lstStyle/>
          <a:p>
            <a:r>
              <a:rPr lang="en-DE" dirty="0"/>
              <a:t>Wissenschaftliche Mitarbeiterin markierte Kolonien mit iPad</a:t>
            </a:r>
          </a:p>
          <a:p>
            <a:r>
              <a:rPr lang="en-DE" dirty="0"/>
              <a:t>Kann nicht direkt für Computer Vision verwendet werden</a:t>
            </a:r>
          </a:p>
          <a:p>
            <a:r>
              <a:rPr lang="en-DE" dirty="0"/>
              <a:t>Muss in gelabelte Daten überführt werden</a:t>
            </a:r>
          </a:p>
        </p:txBody>
      </p:sp>
      <p:pic>
        <p:nvPicPr>
          <p:cNvPr id="5" name="Picture 4" descr="A close-up of a petri dish&#10;&#10;Description automatically generated">
            <a:extLst>
              <a:ext uri="{FF2B5EF4-FFF2-40B4-BE49-F238E27FC236}">
                <a16:creationId xmlns:a16="http://schemas.microsoft.com/office/drawing/2014/main" id="{8AAEF5BC-7A99-33E3-436C-8192257305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9436" y="779464"/>
            <a:ext cx="4065494" cy="4065494"/>
          </a:xfrm>
          <a:prstGeom prst="rect">
            <a:avLst/>
          </a:prstGeom>
        </p:spPr>
      </p:pic>
      <p:pic>
        <p:nvPicPr>
          <p:cNvPr id="7" name="Picture 6" descr="A close-up of a petri dish&#10;&#10;Description automatically generated">
            <a:extLst>
              <a:ext uri="{FF2B5EF4-FFF2-40B4-BE49-F238E27FC236}">
                <a16:creationId xmlns:a16="http://schemas.microsoft.com/office/drawing/2014/main" id="{5A5EFCA1-D805-E184-1AB4-7C3A42EB3C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2183" y="2812211"/>
            <a:ext cx="3617259" cy="361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694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8416D-AC98-29D7-F003-DB1DF745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Das Labeling-Programm</a:t>
            </a:r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0E473A77-1979-6C4E-8212-DABF7A67C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26127" y="1627935"/>
            <a:ext cx="5453676" cy="4351338"/>
          </a:xfr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48F3530-B08C-4F49-3F1B-7E71C6D0C70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78598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r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r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r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r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r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r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r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r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r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Web-App gestützt von Segment Anything</a:t>
            </a:r>
          </a:p>
          <a:p>
            <a:r>
              <a:rPr lang="en-D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Jede Kolonie einmal anklicken</a:t>
            </a:r>
          </a:p>
          <a:p>
            <a:r>
              <a:rPr lang="en-D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So habe ich 200 iPad-annotierte Bilder in digital überführt</a:t>
            </a:r>
          </a:p>
          <a:p>
            <a:r>
              <a:rPr lang="en-D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Kann in Zukunft weiter genutzt werden</a:t>
            </a:r>
          </a:p>
        </p:txBody>
      </p:sp>
    </p:spTree>
    <p:extLst>
      <p:ext uri="{BB962C8B-B14F-4D97-AF65-F5344CB8AC3E}">
        <p14:creationId xmlns:p14="http://schemas.microsoft.com/office/powerpoint/2010/main" val="4698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etri dish with white and blue bubbles&#10;&#10;Description automatically generated">
            <a:extLst>
              <a:ext uri="{FF2B5EF4-FFF2-40B4-BE49-F238E27FC236}">
                <a16:creationId xmlns:a16="http://schemas.microsoft.com/office/drawing/2014/main" id="{61AE34B9-CA4A-6B79-BEA3-8A2FB9484D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3715" y="321734"/>
            <a:ext cx="2905170" cy="2905170"/>
          </a:xfrm>
          <a:prstGeom prst="rect">
            <a:avLst/>
          </a:prstGeom>
        </p:spPr>
      </p:pic>
      <p:pic>
        <p:nvPicPr>
          <p:cNvPr id="13" name="Picture 12" descr="A group of colorful dots&#10;&#10;Description automatically generated">
            <a:extLst>
              <a:ext uri="{FF2B5EF4-FFF2-40B4-BE49-F238E27FC236}">
                <a16:creationId xmlns:a16="http://schemas.microsoft.com/office/drawing/2014/main" id="{0CC14F10-2171-B46C-FA9F-1AEEDFBD50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321734"/>
            <a:ext cx="2905170" cy="2905170"/>
          </a:xfrm>
          <a:prstGeom prst="rect">
            <a:avLst/>
          </a:prstGeom>
        </p:spPr>
      </p:pic>
      <p:pic>
        <p:nvPicPr>
          <p:cNvPr id="7" name="Picture 6" descr="A petri dish with blue bubbles&#10;&#10;Description automatically generated">
            <a:extLst>
              <a:ext uri="{FF2B5EF4-FFF2-40B4-BE49-F238E27FC236}">
                <a16:creationId xmlns:a16="http://schemas.microsoft.com/office/drawing/2014/main" id="{3183F201-6B18-3E8C-502F-E74AA1E756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36020" y="3631096"/>
            <a:ext cx="2760560" cy="2760560"/>
          </a:xfrm>
          <a:prstGeom prst="rect">
            <a:avLst/>
          </a:prstGeom>
        </p:spPr>
      </p:pic>
      <p:pic>
        <p:nvPicPr>
          <p:cNvPr id="11" name="Picture 10" descr="A group of colorful dots&#10;&#10;Description automatically generated">
            <a:extLst>
              <a:ext uri="{FF2B5EF4-FFF2-40B4-BE49-F238E27FC236}">
                <a16:creationId xmlns:a16="http://schemas.microsoft.com/office/drawing/2014/main" id="{75D01998-AC94-D3B7-BCFC-FDC276E1E4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68305" y="3631096"/>
            <a:ext cx="2760560" cy="27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25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5466C-CB4E-5280-AA7C-27117865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Guter Startpunkt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9CC54-31B3-6AE2-BF1C-FF91B46B2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Sehr genaue Daten</a:t>
            </a:r>
          </a:p>
          <a:p>
            <a:r>
              <a:rPr lang="en-DE" dirty="0"/>
              <a:t>Vielfältig einsetzbar</a:t>
            </a:r>
          </a:p>
        </p:txBody>
      </p:sp>
    </p:spTree>
    <p:extLst>
      <p:ext uri="{BB962C8B-B14F-4D97-AF65-F5344CB8AC3E}">
        <p14:creationId xmlns:p14="http://schemas.microsoft.com/office/powerpoint/2010/main" val="1385964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column&#10;&#10;Description automatically generated with medium confidence">
            <a:extLst>
              <a:ext uri="{FF2B5EF4-FFF2-40B4-BE49-F238E27FC236}">
                <a16:creationId xmlns:a16="http://schemas.microsoft.com/office/drawing/2014/main" id="{E9CC81FA-3E57-25B2-2D1F-6C55353385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960" y="663389"/>
            <a:ext cx="7746455" cy="2478868"/>
          </a:xfrm>
          <a:prstGeom prst="rect">
            <a:avLst/>
          </a:prstGeom>
        </p:spPr>
      </p:pic>
      <p:pic>
        <p:nvPicPr>
          <p:cNvPr id="5" name="Picture 4" descr="A pie chart with different colored circles&#10;&#10;Description automatically generated">
            <a:extLst>
              <a:ext uri="{FF2B5EF4-FFF2-40B4-BE49-F238E27FC236}">
                <a16:creationId xmlns:a16="http://schemas.microsoft.com/office/drawing/2014/main" id="{4F250A17-2A96-DAF4-FB9D-97B14A4B75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0448" y="3252625"/>
            <a:ext cx="4912119" cy="32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226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E45A1-E2F3-4AB8-D314-223EC679F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Ansätze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54E2-9A1A-4279-9EF1-CFDBEA92A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32791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0EC90-E596-8A53-8A20-37AC63BD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Traditioneller CV-Ansatz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3FECFF-8909-CF4F-D66D-E32B0EC614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0653" y="1414296"/>
            <a:ext cx="3227689" cy="31970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CD7D41-E6A8-89C5-9000-6BE075664F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36" y="3220958"/>
            <a:ext cx="3247127" cy="3216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E61ACB-F459-9123-87DC-004F80ABEC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4249" y="365125"/>
            <a:ext cx="3417307" cy="33848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598A9A-7572-7057-27B8-7DAC0A55C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6294" y="2799310"/>
            <a:ext cx="3672819" cy="363792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AAD099-BC51-F186-F593-5F340EDD9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933" y="2309205"/>
            <a:ext cx="10515600" cy="4351338"/>
          </a:xfrm>
        </p:spPr>
        <p:txBody>
          <a:bodyPr>
            <a:normAutofit fontScale="92500" lnSpcReduction="10000"/>
          </a:bodyPr>
          <a:lstStyle/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r>
              <a:rPr lang="en-DE" dirty="0"/>
              <a:t>Kein ML notwendig</a:t>
            </a:r>
          </a:p>
          <a:p>
            <a:r>
              <a:rPr lang="en-DE" dirty="0"/>
              <a:t>Viele Parameter zu</a:t>
            </a:r>
            <a:br>
              <a:rPr lang="en-DE" dirty="0"/>
            </a:br>
            <a:r>
              <a:rPr lang="en-DE" dirty="0"/>
              <a:t>tunen</a:t>
            </a:r>
          </a:p>
          <a:p>
            <a:r>
              <a:rPr lang="en-DE" dirty="0"/>
              <a:t>Unflexibel</a:t>
            </a:r>
          </a:p>
        </p:txBody>
      </p:sp>
    </p:spTree>
    <p:extLst>
      <p:ext uri="{BB962C8B-B14F-4D97-AF65-F5344CB8AC3E}">
        <p14:creationId xmlns:p14="http://schemas.microsoft.com/office/powerpoint/2010/main" val="226682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5BF59-9D74-D45C-9042-431FDAAB4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Hybrid Ansatz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43B46-526E-954D-D186-D5DEFCE45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Ferrari et al.</a:t>
            </a:r>
          </a:p>
          <a:p>
            <a:r>
              <a:rPr lang="en-DE" dirty="0"/>
              <a:t>Segmentierung mit </a:t>
            </a:r>
            <a:br>
              <a:rPr lang="en-DE" dirty="0"/>
            </a:br>
            <a:r>
              <a:rPr lang="en-DE" dirty="0"/>
              <a:t>Thresholding/Watershed</a:t>
            </a:r>
          </a:p>
          <a:p>
            <a:r>
              <a:rPr lang="en-DE" dirty="0"/>
              <a:t>Klassifierung von Regionen</a:t>
            </a:r>
            <a:br>
              <a:rPr lang="en-DE" dirty="0"/>
            </a:br>
            <a:r>
              <a:rPr lang="en-DE" dirty="0"/>
              <a:t>nach Anzahl der Kolonien</a:t>
            </a:r>
          </a:p>
        </p:txBody>
      </p:sp>
      <p:pic>
        <p:nvPicPr>
          <p:cNvPr id="5" name="Picture 4" descr="A white circle on a black surface&#10;&#10;Description automatically generated">
            <a:extLst>
              <a:ext uri="{FF2B5EF4-FFF2-40B4-BE49-F238E27FC236}">
                <a16:creationId xmlns:a16="http://schemas.microsoft.com/office/drawing/2014/main" id="{37FE1418-5DAC-817B-C1EC-B91556D6B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582" y="1542112"/>
            <a:ext cx="1182832" cy="1182832"/>
          </a:xfrm>
          <a:prstGeom prst="rect">
            <a:avLst/>
          </a:prstGeom>
        </p:spPr>
      </p:pic>
      <p:pic>
        <p:nvPicPr>
          <p:cNvPr id="7" name="Picture 6" descr="A blue and white circle&#10;&#10;Description automatically generated with medium confidence">
            <a:extLst>
              <a:ext uri="{FF2B5EF4-FFF2-40B4-BE49-F238E27FC236}">
                <a16:creationId xmlns:a16="http://schemas.microsoft.com/office/drawing/2014/main" id="{006C69A0-227B-D106-6AEF-704D3C215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100" y="2422731"/>
            <a:ext cx="1082964" cy="1378318"/>
          </a:xfrm>
          <a:prstGeom prst="rect">
            <a:avLst/>
          </a:prstGeom>
        </p:spPr>
      </p:pic>
      <p:pic>
        <p:nvPicPr>
          <p:cNvPr id="9" name="Picture 8" descr="A close-up of a blue and black circle&#10;&#10;Description automatically generated">
            <a:extLst>
              <a:ext uri="{FF2B5EF4-FFF2-40B4-BE49-F238E27FC236}">
                <a16:creationId xmlns:a16="http://schemas.microsoft.com/office/drawing/2014/main" id="{9E202139-1FAC-28F6-3F07-DC080414D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9382" y="3372634"/>
            <a:ext cx="1581151" cy="177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779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6483F-799D-9E6E-2BA2-09EC952EF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6BE86-C499-5D3A-205F-50F69F05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Hybrid Ansatz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649AB-7817-171D-1347-F923EEB95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69696" cy="4351338"/>
          </a:xfrm>
        </p:spPr>
        <p:txBody>
          <a:bodyPr/>
          <a:lstStyle/>
          <a:p>
            <a:r>
              <a:rPr lang="en-DE" dirty="0"/>
              <a:t>Thresholding schwierig</a:t>
            </a:r>
          </a:p>
          <a:p>
            <a:pPr lvl="1"/>
            <a:r>
              <a:rPr lang="en-DE" dirty="0"/>
              <a:t>Unterschiedliche Hintergründe</a:t>
            </a:r>
          </a:p>
          <a:p>
            <a:pPr lvl="1"/>
            <a:r>
              <a:rPr lang="en-DE" dirty="0"/>
              <a:t>Verschiedene Kontraste</a:t>
            </a:r>
          </a:p>
          <a:p>
            <a:r>
              <a:rPr lang="en-DE" dirty="0"/>
              <a:t>Klassifizierung scheint gut möglich</a:t>
            </a:r>
          </a:p>
          <a:p>
            <a:pPr lvl="1"/>
            <a:r>
              <a:rPr lang="en-DE" dirty="0"/>
              <a:t>Ferrari et al. erreichen 92% Accuracy</a:t>
            </a:r>
            <a:br>
              <a:rPr lang="en-DE" dirty="0"/>
            </a:br>
            <a:r>
              <a:rPr lang="en-DE" dirty="0"/>
              <a:t>beim Zählen der Kolonien in Bildausschnitten</a:t>
            </a:r>
          </a:p>
        </p:txBody>
      </p:sp>
      <p:pic>
        <p:nvPicPr>
          <p:cNvPr id="5" name="Picture 4" descr="A white circle on a black surface&#10;&#10;Description automatically generated">
            <a:extLst>
              <a:ext uri="{FF2B5EF4-FFF2-40B4-BE49-F238E27FC236}">
                <a16:creationId xmlns:a16="http://schemas.microsoft.com/office/drawing/2014/main" id="{8F065910-EE05-D281-1EB7-800BB4547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582" y="1542112"/>
            <a:ext cx="1182832" cy="1182832"/>
          </a:xfrm>
          <a:prstGeom prst="rect">
            <a:avLst/>
          </a:prstGeom>
        </p:spPr>
      </p:pic>
      <p:pic>
        <p:nvPicPr>
          <p:cNvPr id="7" name="Picture 6" descr="A blue and white circle&#10;&#10;Description automatically generated with medium confidence">
            <a:extLst>
              <a:ext uri="{FF2B5EF4-FFF2-40B4-BE49-F238E27FC236}">
                <a16:creationId xmlns:a16="http://schemas.microsoft.com/office/drawing/2014/main" id="{EBD6AEBE-DEE5-BDCE-41CB-8EF547E0D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100" y="2422731"/>
            <a:ext cx="1082964" cy="1378318"/>
          </a:xfrm>
          <a:prstGeom prst="rect">
            <a:avLst/>
          </a:prstGeom>
        </p:spPr>
      </p:pic>
      <p:pic>
        <p:nvPicPr>
          <p:cNvPr id="9" name="Picture 8" descr="A close-up of a blue and black circle&#10;&#10;Description automatically generated">
            <a:extLst>
              <a:ext uri="{FF2B5EF4-FFF2-40B4-BE49-F238E27FC236}">
                <a16:creationId xmlns:a16="http://schemas.microsoft.com/office/drawing/2014/main" id="{9845A81B-C7ED-8C30-CBD1-DBE6DE5AA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9382" y="3372634"/>
            <a:ext cx="1581151" cy="177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87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9D3A0-F46D-0ADA-48F4-7F09854E8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ECCA-E210-763D-CEDC-E2EBCDB31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End-to-End Ansatz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54692-78E9-6026-51E9-55940EA3E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Vollständige Bilder als Input für Deep Learning Modell</a:t>
            </a:r>
          </a:p>
          <a:p>
            <a:r>
              <a:rPr lang="en-DE" dirty="0"/>
              <a:t>Ausgabe von Masken/Bounding Boxes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B5096A-E12B-FD25-0367-0617AD6A57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6950" y="3187412"/>
            <a:ext cx="3382818" cy="3382818"/>
          </a:xfrm>
          <a:prstGeom prst="rect">
            <a:avLst/>
          </a:prstGeom>
        </p:spPr>
      </p:pic>
      <p:pic>
        <p:nvPicPr>
          <p:cNvPr id="7" name="Picture 6" descr="A blue petri dish with blue balls&#10;&#10;Description automatically generated">
            <a:extLst>
              <a:ext uri="{FF2B5EF4-FFF2-40B4-BE49-F238E27FC236}">
                <a16:creationId xmlns:a16="http://schemas.microsoft.com/office/drawing/2014/main" id="{76B897A8-2F7D-5412-0D33-30EF11E14B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5769" y="3179619"/>
            <a:ext cx="3382818" cy="338281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6D1DEFD-6520-B363-25E7-BDEE9E26027D}"/>
              </a:ext>
            </a:extLst>
          </p:cNvPr>
          <p:cNvCxnSpPr/>
          <p:nvPr/>
        </p:nvCxnSpPr>
        <p:spPr>
          <a:xfrm>
            <a:off x="5667204" y="4878821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146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AFE5-AA04-EF16-31ED-15230FC4B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End-to-End Ansatz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02728-5E63-3ABF-5473-0BB8F7998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Sehr flexibel</a:t>
            </a:r>
          </a:p>
          <a:p>
            <a:r>
              <a:rPr lang="en-DE" dirty="0"/>
              <a:t>Passt sich “automatisch” Trainingsdaten an (Hintergründe, Formen der Kolonien, etc.</a:t>
            </a:r>
          </a:p>
          <a:p>
            <a:r>
              <a:rPr lang="en-DE" dirty="0"/>
              <a:t>Compute-</a:t>
            </a:r>
            <a:br>
              <a:rPr lang="en-DE" dirty="0"/>
            </a:br>
            <a:r>
              <a:rPr lang="en-DE" dirty="0"/>
              <a:t>intensiver</a:t>
            </a:r>
          </a:p>
          <a:p>
            <a:r>
              <a:rPr lang="en-DE" dirty="0"/>
              <a:t>Viel über</a:t>
            </a:r>
            <a:br>
              <a:rPr lang="en-DE" dirty="0"/>
            </a:br>
            <a:r>
              <a:rPr lang="en-DE" dirty="0"/>
              <a:t>Experimentation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5A1144-B814-A337-F378-BD96A92DDA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5854" y="3588706"/>
            <a:ext cx="2981523" cy="2981523"/>
          </a:xfrm>
          <a:prstGeom prst="rect">
            <a:avLst/>
          </a:prstGeom>
        </p:spPr>
      </p:pic>
      <p:pic>
        <p:nvPicPr>
          <p:cNvPr id="7" name="Picture 6" descr="A blue petri dish with blue balls&#10;&#10;Description automatically generated">
            <a:extLst>
              <a:ext uri="{FF2B5EF4-FFF2-40B4-BE49-F238E27FC236}">
                <a16:creationId xmlns:a16="http://schemas.microsoft.com/office/drawing/2014/main" id="{0BBB47A2-A0B1-9E4E-4755-368A9A982B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5819" y="3588707"/>
            <a:ext cx="2973729" cy="297372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038934-B599-DE7D-E9BD-794B481ACAC1}"/>
              </a:ext>
            </a:extLst>
          </p:cNvPr>
          <p:cNvCxnSpPr/>
          <p:nvPr/>
        </p:nvCxnSpPr>
        <p:spPr>
          <a:xfrm>
            <a:off x="7608738" y="5148130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061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474DA-B07E-3764-7C59-083F81D92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Umsetzung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487B4-532C-B022-56D9-C8AFB2CBC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33486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066BA-B297-8308-158A-583CE5F8D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Modell heraussuchen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6D112-D00C-0922-91AC-897CACA4D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249433" cy="4351338"/>
          </a:xfrm>
        </p:spPr>
        <p:txBody>
          <a:bodyPr/>
          <a:lstStyle/>
          <a:p>
            <a:r>
              <a:rPr lang="en-DE" dirty="0"/>
              <a:t>PyTorch gefragt</a:t>
            </a:r>
          </a:p>
          <a:p>
            <a:r>
              <a:rPr lang="en-DE" dirty="0"/>
              <a:t>Majchrowska et al. zeigt, dass Modellarchitektur geringen Einfluss auf Performance hat</a:t>
            </a:r>
          </a:p>
          <a:p>
            <a:r>
              <a:rPr lang="en-DE" dirty="0"/>
              <a:t>Faster / Mask R-CNN sind bekannt, haben PyTorch Implementation und viele Online-Ressourcen</a:t>
            </a:r>
          </a:p>
        </p:txBody>
      </p:sp>
    </p:spTree>
    <p:extLst>
      <p:ext uri="{BB962C8B-B14F-4D97-AF65-F5344CB8AC3E}">
        <p14:creationId xmlns:p14="http://schemas.microsoft.com/office/powerpoint/2010/main" val="1406756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59B76C-1013-49EB-6BDC-8EAFB1AD4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851" y="861868"/>
            <a:ext cx="5082298" cy="513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737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5A8E0-17A5-E4E8-0B79-FAF2BA8F7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D6540-E8D8-2453-A99F-8F6F110B3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33992" cy="4351338"/>
          </a:xfrm>
        </p:spPr>
        <p:txBody>
          <a:bodyPr/>
          <a:lstStyle/>
          <a:p>
            <a:r>
              <a:rPr lang="en-DE" dirty="0"/>
              <a:t>Modell an sich von PyTorch importiert (keine Layer müssen definiert werden)</a:t>
            </a:r>
          </a:p>
          <a:p>
            <a:r>
              <a:rPr lang="en-DE" dirty="0"/>
              <a:t>Pre-Trained Weights von COCO können ebenfalls importiert werden</a:t>
            </a:r>
          </a:p>
          <a:p>
            <a:r>
              <a:rPr lang="en-DE" dirty="0"/>
              <a:t>Implementation des Datasets / Transforms / Trainings über mehrere .py-Dateien verteilt</a:t>
            </a:r>
          </a:p>
        </p:txBody>
      </p:sp>
    </p:spTree>
    <p:extLst>
      <p:ext uri="{BB962C8B-B14F-4D97-AF65-F5344CB8AC3E}">
        <p14:creationId xmlns:p14="http://schemas.microsoft.com/office/powerpoint/2010/main" val="2669137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C8AC5-F7A7-787F-E40E-B3987110F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Experimente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35CDD-3AB0-D0C7-B091-8B7C2E356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59889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A4D8C-CEA2-D90B-1248-DEFBE52F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Bildtransformationen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53A4E-9784-BA5C-CF06-76B40A8DB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Rotation (90, 180, 270 Grad)</a:t>
            </a:r>
          </a:p>
          <a:p>
            <a:endParaRPr lang="en-DE" dirty="0"/>
          </a:p>
        </p:txBody>
      </p:sp>
      <p:pic>
        <p:nvPicPr>
          <p:cNvPr id="5" name="Picture 4" descr="A petri dish with white dots&#10;&#10;Description automatically generated">
            <a:extLst>
              <a:ext uri="{FF2B5EF4-FFF2-40B4-BE49-F238E27FC236}">
                <a16:creationId xmlns:a16="http://schemas.microsoft.com/office/drawing/2014/main" id="{4473725A-FB11-9D14-E584-4F2F3243B9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4263" y="2882900"/>
            <a:ext cx="3429000" cy="3429000"/>
          </a:xfrm>
          <a:prstGeom prst="rect">
            <a:avLst/>
          </a:prstGeom>
        </p:spPr>
      </p:pic>
      <p:sp>
        <p:nvSpPr>
          <p:cNvPr id="8" name="Bent Arrow 7">
            <a:extLst>
              <a:ext uri="{FF2B5EF4-FFF2-40B4-BE49-F238E27FC236}">
                <a16:creationId xmlns:a16="http://schemas.microsoft.com/office/drawing/2014/main" id="{C57EE43B-5E51-D598-6BE2-75121456AFB2}"/>
              </a:ext>
            </a:extLst>
          </p:cNvPr>
          <p:cNvSpPr/>
          <p:nvPr/>
        </p:nvSpPr>
        <p:spPr>
          <a:xfrm rot="5400000">
            <a:off x="5388159" y="2516489"/>
            <a:ext cx="813816" cy="86868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chemeClr val="tx1"/>
              </a:solidFill>
              <a:latin typeface="Inter"/>
            </a:endParaRPr>
          </a:p>
        </p:txBody>
      </p:sp>
      <p:pic>
        <p:nvPicPr>
          <p:cNvPr id="10" name="Picture 9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FCE403E-EB55-E9AC-4C9A-783E1A8A3C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9326" y="3074809"/>
            <a:ext cx="4326397" cy="99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786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2E527-EB21-0E42-5513-E8AF6221A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E9123-56B1-BE00-CBC0-B16CE2859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Abdecken + Inpainting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7688A-4D3F-FD92-7343-5301B0946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Kolonien im Bild verdecken um neue Bilder zu erschaffen</a:t>
            </a:r>
          </a:p>
          <a:p>
            <a:r>
              <a:rPr lang="en-DE" dirty="0"/>
              <a:t>Ähnlich wie Zhang et al.</a:t>
            </a:r>
          </a:p>
          <a:p>
            <a:endParaRPr lang="en-DE" dirty="0"/>
          </a:p>
        </p:txBody>
      </p:sp>
      <p:pic>
        <p:nvPicPr>
          <p:cNvPr id="6" name="Picture 5" descr="A close-up of a petri dish&#10;&#10;Description automatically generated">
            <a:extLst>
              <a:ext uri="{FF2B5EF4-FFF2-40B4-BE49-F238E27FC236}">
                <a16:creationId xmlns:a16="http://schemas.microsoft.com/office/drawing/2014/main" id="{8D8259C5-7296-2D4E-0290-3B4554BDCE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800" y="3001819"/>
            <a:ext cx="3616036" cy="3616036"/>
          </a:xfrm>
          <a:prstGeom prst="rect">
            <a:avLst/>
          </a:prstGeom>
        </p:spPr>
      </p:pic>
      <p:pic>
        <p:nvPicPr>
          <p:cNvPr id="9" name="Picture 8" descr="A blue liquid in a petri dish&#10;&#10;Description automatically generated">
            <a:extLst>
              <a:ext uri="{FF2B5EF4-FFF2-40B4-BE49-F238E27FC236}">
                <a16:creationId xmlns:a16="http://schemas.microsoft.com/office/drawing/2014/main" id="{0E7A0DF7-F4FF-BE68-62DB-A4B6DBDBAF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4236" y="3001819"/>
            <a:ext cx="3616036" cy="3616036"/>
          </a:xfrm>
          <a:prstGeom prst="rect">
            <a:avLst/>
          </a:prstGeom>
        </p:spPr>
      </p:pic>
      <p:pic>
        <p:nvPicPr>
          <p:cNvPr id="12" name="Picture 11" descr="A tabl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52DC5A55-A0E6-A0FB-11F6-AE8D543CB6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88142" y="2464937"/>
            <a:ext cx="5110163" cy="96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68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B2D04-D39F-5A77-B863-DF6FCF648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5E86E-DF63-F22B-9E0E-4E2B5F7D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Pretraining mit anderen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20665-77E6-04DC-7C86-B9D9AF977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867405" cy="4351338"/>
          </a:xfrm>
        </p:spPr>
        <p:txBody>
          <a:bodyPr/>
          <a:lstStyle/>
          <a:p>
            <a:r>
              <a:rPr lang="en-DE" dirty="0"/>
              <a:t>Modell vor dem Trainieren mit dem hauseigenen Datensatz “vorwärmen”</a:t>
            </a:r>
          </a:p>
          <a:p>
            <a:r>
              <a:rPr lang="en-DE" dirty="0"/>
              <a:t>AGAR Dataset von </a:t>
            </a:r>
            <a:br>
              <a:rPr lang="en-DE" dirty="0"/>
            </a:br>
            <a:r>
              <a:rPr lang="en-DE" dirty="0"/>
              <a:t>Majchrowska et al.</a:t>
            </a:r>
          </a:p>
        </p:txBody>
      </p:sp>
      <p:pic>
        <p:nvPicPr>
          <p:cNvPr id="5" name="Picture 4" descr="A petri dish with white dots&#10;&#10;Description automatically generated">
            <a:extLst>
              <a:ext uri="{FF2B5EF4-FFF2-40B4-BE49-F238E27FC236}">
                <a16:creationId xmlns:a16="http://schemas.microsoft.com/office/drawing/2014/main" id="{25CB0D43-2E49-E238-8331-31EDFFB7A2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3449" y="1690688"/>
            <a:ext cx="3446431" cy="3760426"/>
          </a:xfrm>
          <a:prstGeom prst="rect">
            <a:avLst/>
          </a:prstGeom>
        </p:spPr>
      </p:pic>
      <p:pic>
        <p:nvPicPr>
          <p:cNvPr id="8" name="Picture 7" descr="A round yellow petri dish with black text&#10;&#10;Description automatically generated">
            <a:extLst>
              <a:ext uri="{FF2B5EF4-FFF2-40B4-BE49-F238E27FC236}">
                <a16:creationId xmlns:a16="http://schemas.microsoft.com/office/drawing/2014/main" id="{9FA09DB5-FDA7-5F64-B276-097DA89A29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836" y="2363967"/>
            <a:ext cx="3437172" cy="402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2652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3FCE1-03CA-9EF3-5915-CDC047DE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5E4AD-DE65-33D8-3520-86DC6E860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Pretraining mit anderen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8EA5E-022B-973E-D53B-64B637F64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Modell vor dem Trainieren mit </a:t>
            </a:r>
            <a:br>
              <a:rPr lang="en-DE" dirty="0"/>
            </a:br>
            <a:r>
              <a:rPr lang="en-DE" dirty="0"/>
              <a:t>dem hauseigenen Datensatz </a:t>
            </a:r>
            <a:br>
              <a:rPr lang="en-DE" dirty="0"/>
            </a:br>
            <a:r>
              <a:rPr lang="en-DE" dirty="0"/>
              <a:t>“vorwärmen”</a:t>
            </a:r>
          </a:p>
          <a:p>
            <a:r>
              <a:rPr lang="en-DE" dirty="0"/>
              <a:t>COCO Dataset von Microsoft</a:t>
            </a:r>
          </a:p>
        </p:txBody>
      </p:sp>
      <p:pic>
        <p:nvPicPr>
          <p:cNvPr id="6" name="Picture 5" descr="A plate of food on a table&#10;&#10;Description automatically generated">
            <a:extLst>
              <a:ext uri="{FF2B5EF4-FFF2-40B4-BE49-F238E27FC236}">
                <a16:creationId xmlns:a16="http://schemas.microsoft.com/office/drawing/2014/main" id="{A5A6D843-8BDF-CBF0-E4C6-BCCE1ACF6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729" y="3752150"/>
            <a:ext cx="9592541" cy="274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278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D9243-C017-ED9C-CC6A-4CE4DC55B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8E7BDBCC-CD27-9F69-9DE7-D36F7E5FF8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258" y="542636"/>
            <a:ext cx="5710959" cy="3752128"/>
          </a:xfrm>
          <a:prstGeom prst="rect">
            <a:avLst/>
          </a:prstGeom>
        </p:spPr>
      </p:pic>
      <p:pic>
        <p:nvPicPr>
          <p:cNvPr id="12" name="Picture 11" descr="A table with numbers and text&#10;&#10;Description automatically generated">
            <a:extLst>
              <a:ext uri="{FF2B5EF4-FFF2-40B4-BE49-F238E27FC236}">
                <a16:creationId xmlns:a16="http://schemas.microsoft.com/office/drawing/2014/main" id="{2B44F4D2-407B-D915-95C0-9359761230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3418" y="4504481"/>
            <a:ext cx="5906078" cy="171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49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0D7D0-011C-F316-DF82-CFB404BF4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Und viele mehr…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CB336-AABD-D94B-B785-ACE6F802F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Optimizer (</a:t>
            </a:r>
            <a:r>
              <a:rPr lang="en-DE" b="1" dirty="0"/>
              <a:t>SGD</a:t>
            </a:r>
            <a:r>
              <a:rPr lang="en-DE" dirty="0"/>
              <a:t>, Adam, AdamW)</a:t>
            </a:r>
          </a:p>
          <a:p>
            <a:r>
              <a:rPr lang="en-DE" dirty="0"/>
              <a:t>Batch size, Gradient Clipping</a:t>
            </a:r>
          </a:p>
          <a:p>
            <a:r>
              <a:rPr lang="en-DE" dirty="0"/>
              <a:t>Bildauflösungen (800 x 800px)</a:t>
            </a:r>
          </a:p>
          <a:p>
            <a:r>
              <a:rPr lang="en-DE" dirty="0"/>
              <a:t>…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932775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0617F-8787-2461-CD2C-279EE9EB9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Ergebnisse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4A90C-E684-3BA3-92BE-7F084652C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948080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blue square with black lines&#10;&#10;Description automatically generated">
            <a:extLst>
              <a:ext uri="{FF2B5EF4-FFF2-40B4-BE49-F238E27FC236}">
                <a16:creationId xmlns:a16="http://schemas.microsoft.com/office/drawing/2014/main" id="{241C0F31-63BB-22CF-7957-B398CBD81D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1200" y="2057400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344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2F782-756B-E78D-759C-69BE646AF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Zahlen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B86EB-499D-F46B-B099-C207C6851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50 Testbilder</a:t>
            </a:r>
          </a:p>
          <a:p>
            <a:r>
              <a:rPr lang="en-DE" dirty="0"/>
              <a:t>92,9% Präzision beim Erkennen von Kolonien</a:t>
            </a:r>
          </a:p>
          <a:p>
            <a:r>
              <a:rPr lang="en-DE" dirty="0"/>
              <a:t>87,3% Recall</a:t>
            </a:r>
          </a:p>
          <a:p>
            <a:r>
              <a:rPr lang="en-DE" dirty="0"/>
              <a:t>6,26 Kolonien daneben durchschnittlich</a:t>
            </a:r>
          </a:p>
          <a:p>
            <a:endParaRPr lang="en-DE" dirty="0"/>
          </a:p>
          <a:p>
            <a:r>
              <a:rPr lang="en-DE" dirty="0"/>
              <a:t>Kleines Datenset, Zahlen nicht 100% zuverlässig</a:t>
            </a:r>
          </a:p>
        </p:txBody>
      </p:sp>
    </p:spTree>
    <p:extLst>
      <p:ext uri="{BB962C8B-B14F-4D97-AF65-F5344CB8AC3E}">
        <p14:creationId xmlns:p14="http://schemas.microsoft.com/office/powerpoint/2010/main" val="19538897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lage of different colored petri dishes&#10;&#10;Description automatically generated">
            <a:extLst>
              <a:ext uri="{FF2B5EF4-FFF2-40B4-BE49-F238E27FC236}">
                <a16:creationId xmlns:a16="http://schemas.microsoft.com/office/drawing/2014/main" id="{1AAD27AE-6174-D690-7BB2-8614A99802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2667000" y="-1142999"/>
            <a:ext cx="6858000" cy="914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7168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A4B6E-F06B-9DBF-49C4-0811560F5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Nutzung des Modells</a:t>
            </a:r>
          </a:p>
        </p:txBody>
      </p:sp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C367D2A1-4677-D78C-C431-BA9D421E4B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4776" y="1378168"/>
            <a:ext cx="7342447" cy="511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533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D81CE-C8BD-AEED-1FBE-467E42A4A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Ausblick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DC83-5F0B-0FE6-980D-9F9FBC11A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Modell jetzt verwenden als Helfer</a:t>
            </a:r>
          </a:p>
          <a:p>
            <a:r>
              <a:rPr lang="en-DE" dirty="0"/>
              <a:t>Labeling Tool &amp; Anwendung zur Interferenz verknüpfen um Kreis zwischen Dataset &amp; Anwenden zu schließen</a:t>
            </a:r>
          </a:p>
          <a:p>
            <a:r>
              <a:rPr lang="en-DE" dirty="0"/>
              <a:t>Architekturen testen</a:t>
            </a:r>
          </a:p>
          <a:p>
            <a:r>
              <a:rPr lang="en-DE" dirty="0"/>
              <a:t>Kolonien klassifizieren</a:t>
            </a:r>
          </a:p>
          <a:p>
            <a:r>
              <a:rPr lang="en-DE" dirty="0"/>
              <a:t>Smartphone-Bilder zum Trainieren verwenden</a:t>
            </a:r>
          </a:p>
        </p:txBody>
      </p:sp>
    </p:spTree>
    <p:extLst>
      <p:ext uri="{BB962C8B-B14F-4D97-AF65-F5344CB8AC3E}">
        <p14:creationId xmlns:p14="http://schemas.microsoft.com/office/powerpoint/2010/main" val="15287459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E1A1C-4679-2DFF-87BD-98E230056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DAA0-B0D2-2396-39A7-C77090806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0329"/>
            <a:ext cx="9144000" cy="2585323"/>
          </a:xfrm>
        </p:spPr>
        <p:txBody>
          <a:bodyPr>
            <a:spAutoFit/>
          </a:bodyPr>
          <a:lstStyle/>
          <a:p>
            <a:r>
              <a:rPr lang="en-DE" dirty="0">
                <a:latin typeface="Inter Display" panose="02000503000000020004" pitchFamily="2" charset="0"/>
                <a:ea typeface="Inter Display" panose="02000503000000020004" pitchFamily="2" charset="0"/>
                <a:cs typeface="Inter Display" panose="02000503000000020004" pitchFamily="2" charset="0"/>
              </a:rPr>
              <a:t>Automating Bacterial Colony Segmentation with 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14FF9-DA55-0C7F-F50C-74B8CA5A8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1622"/>
            <a:ext cx="9144000" cy="830997"/>
          </a:xfrm>
        </p:spPr>
        <p:txBody>
          <a:bodyPr>
            <a:spAutoFit/>
          </a:bodyPr>
          <a:lstStyle/>
          <a:p>
            <a:r>
              <a:rPr lang="en-DE" dirty="0"/>
              <a:t>Bachelor’s Thesis by Leonhard Driesch,</a:t>
            </a:r>
            <a:br>
              <a:rPr lang="en-DE" dirty="0"/>
            </a:br>
            <a:r>
              <a:rPr lang="en-DE" dirty="0"/>
              <a:t>University of Münster – Computer Science Department</a:t>
            </a:r>
          </a:p>
        </p:txBody>
      </p:sp>
    </p:spTree>
    <p:extLst>
      <p:ext uri="{BB962C8B-B14F-4D97-AF65-F5344CB8AC3E}">
        <p14:creationId xmlns:p14="http://schemas.microsoft.com/office/powerpoint/2010/main" val="32740232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BDEBF-AD43-59AA-C08A-AEA0F832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Quellen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C0F90-923C-49CD-4333-B781AA132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https://www.kisker-biotech.com/product/0D-15-03</a:t>
            </a:r>
            <a:endParaRPr lang="en-US" dirty="0"/>
          </a:p>
          <a:p>
            <a:r>
              <a:rPr lang="en-US" dirty="0" err="1"/>
              <a:t>Restliche</a:t>
            </a:r>
            <a:r>
              <a:rPr lang="en-US" dirty="0"/>
              <a:t> </a:t>
            </a:r>
            <a:r>
              <a:rPr lang="en-US" dirty="0" err="1"/>
              <a:t>Quellen</a:t>
            </a:r>
            <a:r>
              <a:rPr lang="en-US" dirty="0"/>
              <a:t>: </a:t>
            </a:r>
            <a:r>
              <a:rPr lang="en-US" dirty="0" err="1"/>
              <a:t>siehe</a:t>
            </a:r>
            <a:r>
              <a:rPr lang="en-US" dirty="0"/>
              <a:t> </a:t>
            </a:r>
            <a:r>
              <a:rPr lang="en-US" dirty="0" err="1"/>
              <a:t>Bachelorarbeit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301360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513</Words>
  <Application>Microsoft Macintosh PowerPoint</Application>
  <PresentationFormat>Widescreen</PresentationFormat>
  <Paragraphs>105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Inter</vt:lpstr>
      <vt:lpstr>Inter Display</vt:lpstr>
      <vt:lpstr>Inter Display ExtraBold</vt:lpstr>
      <vt:lpstr>Office Theme</vt:lpstr>
      <vt:lpstr>Automating Bacterial Colony Segmentation with Deep Learning</vt:lpstr>
      <vt:lpstr>Kontext</vt:lpstr>
      <vt:lpstr>Problem</vt:lpstr>
      <vt:lpstr>Ziel der Bachelorarbeit</vt:lpstr>
      <vt:lpstr>Dataset</vt:lpstr>
      <vt:lpstr>Photos sammeln</vt:lpstr>
      <vt:lpstr>PowerPoint Presentation</vt:lpstr>
      <vt:lpstr>Labeling</vt:lpstr>
      <vt:lpstr>Das Labeling-Programm</vt:lpstr>
      <vt:lpstr>PowerPoint Presentation</vt:lpstr>
      <vt:lpstr>Guter Startpunkt</vt:lpstr>
      <vt:lpstr>PowerPoint Presentation</vt:lpstr>
      <vt:lpstr>Ansätze</vt:lpstr>
      <vt:lpstr>Traditioneller CV-Ansatz</vt:lpstr>
      <vt:lpstr>Hybrid Ansatz</vt:lpstr>
      <vt:lpstr>Hybrid Ansatz</vt:lpstr>
      <vt:lpstr>End-to-End Ansatz</vt:lpstr>
      <vt:lpstr>End-to-End Ansatz</vt:lpstr>
      <vt:lpstr>Umsetzung</vt:lpstr>
      <vt:lpstr>Modell heraussuchen</vt:lpstr>
      <vt:lpstr>PowerPoint Presentation</vt:lpstr>
      <vt:lpstr>Implementation</vt:lpstr>
      <vt:lpstr>Experimente</vt:lpstr>
      <vt:lpstr>Bildtransformationen</vt:lpstr>
      <vt:lpstr>Abdecken + Inpainting</vt:lpstr>
      <vt:lpstr>Pretraining mit anderen Datasets</vt:lpstr>
      <vt:lpstr>Pretraining mit anderen Datasets</vt:lpstr>
      <vt:lpstr>PowerPoint Presentation</vt:lpstr>
      <vt:lpstr>Und viele mehr…</vt:lpstr>
      <vt:lpstr>Ergebnisse</vt:lpstr>
      <vt:lpstr>PowerPoint Presentation</vt:lpstr>
      <vt:lpstr>Zahlen</vt:lpstr>
      <vt:lpstr>PowerPoint Presentation</vt:lpstr>
      <vt:lpstr>Nutzung des Modells</vt:lpstr>
      <vt:lpstr>Ausblick</vt:lpstr>
      <vt:lpstr>Automating Bacterial Colony Segmentation with Deep Learning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Leonhard Driesch</dc:creator>
  <cp:lastModifiedBy>Leonhard Driesch</cp:lastModifiedBy>
  <cp:revision>35</cp:revision>
  <dcterms:created xsi:type="dcterms:W3CDTF">2024-10-07T09:17:05Z</dcterms:created>
  <dcterms:modified xsi:type="dcterms:W3CDTF">2026-10-15T12:15:07Z</dcterms:modified>
</cp:coreProperties>
</file>